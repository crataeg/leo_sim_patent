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1" r:id="rId6"/>
    <p:sldId id="258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524000" y="3724910"/>
            <a:ext cx="8253730" cy="1679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/>
          </a:p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3110" y="524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抗干扰算法</a:t>
            </a:r>
            <a:r>
              <a:rPr lang="zh-CN" altLang="en-US"/>
              <a:t>研究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456055" y="971550"/>
            <a:ext cx="7534275" cy="989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干扰类型不固定，随时变（环境非常复杂）</a:t>
            </a:r>
            <a:endParaRPr lang="zh-CN" altLang="en-US"/>
          </a:p>
          <a:p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低轨链路是高动态的，传统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慢调参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来不及</a:t>
            </a:r>
            <a:endParaRPr lang="zh-CN" altLang="en-US"/>
          </a:p>
          <a:p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抗干扰不能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乱抑制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，否则会误伤自己的信号</a:t>
            </a:r>
            <a:endParaRPr lang="zh-CN" altLang="en-US"/>
          </a:p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24000" y="2625090"/>
            <a:ext cx="64738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查阅文献后</a:t>
            </a:r>
            <a:r>
              <a:rPr lang="en-US" altLang="zh-CN"/>
              <a:t> </a:t>
            </a:r>
            <a:r>
              <a:rPr lang="zh-CN" altLang="en-US"/>
              <a:t>主要参考《</a:t>
            </a:r>
            <a:r>
              <a:rPr lang="en-US" altLang="zh-CN"/>
              <a:t>Jammer Classi</a:t>
            </a:r>
            <a:r>
              <a:rPr lang="en-US" altLang="en-US"/>
              <a:t>ﬁ</a:t>
            </a:r>
            <a:r>
              <a:rPr lang="en-US" altLang="zh-CN"/>
              <a:t>cation in GNSS Bands Via Machine</a:t>
            </a:r>
            <a:endParaRPr lang="en-US" altLang="zh-CN"/>
          </a:p>
          <a:p>
            <a:r>
              <a:rPr lang="en-US" altLang="zh-CN"/>
              <a:t>Learning Algorithms</a:t>
            </a:r>
            <a:r>
              <a:rPr lang="zh-CN" altLang="en-US"/>
              <a:t>》所以采用方法</a:t>
            </a:r>
            <a:r>
              <a:rPr lang="zh-CN" altLang="en-US"/>
              <a:t>如下：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26210" y="3429000"/>
            <a:ext cx="9123680" cy="2816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参考点</a:t>
            </a:r>
            <a:r>
              <a:rPr lang="en-US" altLang="zh-CN">
                <a:solidFill>
                  <a:srgbClr val="FF0000"/>
                </a:solidFill>
              </a:rPr>
              <a:t>A</a:t>
            </a:r>
            <a:r>
              <a:rPr lang="zh-CN" altLang="en-US"/>
              <a:t>：问题表述方式（信号分类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图像分类）</a:t>
            </a:r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论文把干扰分类表述为黑白时频图像分类问题，我借鉴了这个思路，把接收信号映射成</a:t>
            </a:r>
            <a:r>
              <a:rPr lang="en-US" altLang="zh-CN"/>
              <a:t> STFT </a:t>
            </a:r>
            <a:r>
              <a:rPr lang="zh-CN" altLang="en-US"/>
              <a:t>时频图，再用</a:t>
            </a:r>
            <a:r>
              <a:rPr lang="en-US" altLang="zh-CN"/>
              <a:t> CNN </a:t>
            </a:r>
            <a:r>
              <a:rPr lang="zh-CN" altLang="en-US"/>
              <a:t>做分类。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参考点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/>
              <a:t>：特征选择（</a:t>
            </a:r>
            <a:r>
              <a:rPr lang="en-US" altLang="zh-CN"/>
              <a:t>STFT </a:t>
            </a:r>
            <a:r>
              <a:rPr lang="zh-CN" altLang="en-US"/>
              <a:t>参数固定</a:t>
            </a:r>
            <a:r>
              <a:rPr lang="en-US" altLang="zh-CN"/>
              <a:t> + </a:t>
            </a:r>
            <a:r>
              <a:rPr lang="zh-CN" altLang="en-US"/>
              <a:t>纹理差异）</a:t>
            </a:r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论文使用</a:t>
            </a:r>
            <a:r>
              <a:rPr lang="en-US" altLang="zh-CN"/>
              <a:t> STFT </a:t>
            </a:r>
            <a:r>
              <a:rPr lang="zh-CN" altLang="en-US"/>
              <a:t>把不同干扰的形态差异显性化，这样网络能直接学习谱图纹理。我采用同样的</a:t>
            </a:r>
            <a:r>
              <a:rPr lang="en-US" altLang="zh-CN"/>
              <a:t> STFT </a:t>
            </a:r>
            <a:r>
              <a:rPr lang="zh-CN" altLang="en-US"/>
              <a:t>成图路线，并固定参数保证一致性。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参考点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/>
              <a:t>：数据增强策略（随机化工况）</a:t>
            </a:r>
            <a:endParaRPr lang="en-US" altLang="zh-CN"/>
          </a:p>
          <a:p>
            <a:r>
              <a:rPr lang="en-US" altLang="zh-CN"/>
              <a:t>“</a:t>
            </a:r>
            <a:r>
              <a:rPr lang="zh-CN" altLang="en-US"/>
              <a:t>论文通过随机化</a:t>
            </a:r>
            <a:r>
              <a:rPr lang="en-US" altLang="zh-CN"/>
              <a:t> JSR </a:t>
            </a:r>
            <a:r>
              <a:rPr lang="zh-CN" altLang="en-US"/>
              <a:t>和信道噪声水平生成大规模数据集。</a:t>
            </a:r>
            <a:r>
              <a:rPr lang="zh-CN" altLang="en-US"/>
              <a:t>因此我在我们的场景里用多档</a:t>
            </a:r>
            <a:r>
              <a:rPr lang="en-US" altLang="zh-CN"/>
              <a:t> SNR/JSR </a:t>
            </a:r>
            <a:r>
              <a:rPr lang="zh-CN" altLang="en-US"/>
              <a:t>组合随机采样，增强泛化。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524000" y="2040255"/>
            <a:ext cx="7310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总体基调：做</a:t>
            </a:r>
            <a:r>
              <a:rPr lang="en-US" altLang="zh-CN"/>
              <a:t> </a:t>
            </a:r>
            <a:r>
              <a:rPr lang="zh-CN" altLang="en-US"/>
              <a:t>干扰识别（</a:t>
            </a:r>
            <a:r>
              <a:rPr lang="en-US" altLang="zh-CN"/>
              <a:t>DL/ML</a:t>
            </a:r>
            <a:r>
              <a:rPr lang="zh-CN" altLang="en-US"/>
              <a:t>）</a:t>
            </a:r>
            <a:r>
              <a:rPr lang="en-US" altLang="zh-CN"/>
              <a:t> + </a:t>
            </a:r>
            <a:r>
              <a:rPr lang="zh-CN" altLang="en-US"/>
              <a:t>对应抑制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90245" y="795655"/>
            <a:ext cx="6200775" cy="3748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AWGN + </a:t>
            </a:r>
            <a:r>
              <a:rPr lang="zh-CN" altLang="en-US"/>
              <a:t>多档</a:t>
            </a:r>
            <a:r>
              <a:rPr lang="en-US" altLang="zh-CN"/>
              <a:t> SNR</a:t>
            </a:r>
            <a:r>
              <a:rPr lang="zh-CN" altLang="en-US"/>
              <a:t>（</a:t>
            </a:r>
            <a:r>
              <a:rPr lang="en-US" altLang="zh-CN"/>
              <a:t>none</a:t>
            </a:r>
            <a:r>
              <a:rPr lang="zh-CN" altLang="en-US"/>
              <a:t>）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tone/pbnj/mod </a:t>
            </a:r>
            <a:r>
              <a:rPr lang="zh-CN" altLang="en-US"/>
              <a:t>干扰建模</a:t>
            </a:r>
            <a:r>
              <a:rPr lang="en-US" altLang="zh-CN"/>
              <a:t> + </a:t>
            </a:r>
            <a:r>
              <a:rPr lang="zh-CN" altLang="en-US"/>
              <a:t>多档</a:t>
            </a:r>
            <a:r>
              <a:rPr lang="en-US" altLang="zh-CN"/>
              <a:t> JSR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发现</a:t>
            </a:r>
            <a:r>
              <a:rPr lang="en-US" altLang="zh-CN"/>
              <a:t> mod </a:t>
            </a:r>
            <a:r>
              <a:rPr lang="zh-CN" altLang="en-US"/>
              <a:t>和</a:t>
            </a:r>
            <a:r>
              <a:rPr lang="en-US" altLang="zh-CN"/>
              <a:t> none </a:t>
            </a:r>
            <a:r>
              <a:rPr lang="zh-CN" altLang="en-US"/>
              <a:t>在部分情况下很像，于是对</a:t>
            </a:r>
            <a:r>
              <a:rPr lang="en-US" altLang="zh-CN"/>
              <a:t> mod </a:t>
            </a:r>
            <a:r>
              <a:rPr lang="zh-CN" altLang="en-US"/>
              <a:t>干扰做了两项增强：</a:t>
            </a:r>
            <a:endParaRPr lang="en-US" altLang="zh-CN"/>
          </a:p>
          <a:p>
            <a:pPr indent="457200"/>
            <a:r>
              <a:rPr lang="zh-CN" altLang="en-US" sz="1600"/>
              <a:t>强制频偏</a:t>
            </a:r>
            <a:r>
              <a:rPr lang="en-US" altLang="zh-CN" sz="1600"/>
              <a:t> df</a:t>
            </a:r>
            <a:r>
              <a:rPr lang="zh-CN" altLang="en-US" sz="1600"/>
              <a:t>，避免退化成接近无干扰；</a:t>
            </a:r>
            <a:endParaRPr lang="en-US" altLang="zh-CN" sz="1600"/>
          </a:p>
          <a:p>
            <a:pPr indent="457200"/>
            <a:r>
              <a:rPr lang="zh-CN" altLang="en-US" sz="1600"/>
              <a:t>引入</a:t>
            </a:r>
            <a:r>
              <a:rPr lang="en-US" altLang="zh-CN" sz="1600"/>
              <a:t> burst </a:t>
            </a:r>
            <a:r>
              <a:rPr lang="zh-CN" altLang="en-US" sz="1600"/>
              <a:t>突发（更符合车辆运动过程），使时频图具有明显时间局部能量特征。这样显著提升</a:t>
            </a:r>
            <a:r>
              <a:rPr lang="en-US" altLang="zh-CN" sz="1600"/>
              <a:t> mod </a:t>
            </a:r>
            <a:r>
              <a:rPr lang="zh-CN" altLang="en-US" sz="1600"/>
              <a:t>的可分性。</a:t>
            </a:r>
            <a:r>
              <a:rPr lang="en-US" altLang="zh-CN" sz="1600"/>
              <a:t>”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/>
              <a:t>STFT</a:t>
            </a:r>
            <a:r>
              <a:rPr lang="zh-CN" altLang="en-US"/>
              <a:t>时频图</a:t>
            </a:r>
            <a:r>
              <a:rPr lang="en-US" altLang="en-US"/>
              <a:t>→</a:t>
            </a:r>
            <a:r>
              <a:rPr lang="en-US" altLang="zh-CN"/>
              <a:t>128</a:t>
            </a:r>
            <a:r>
              <a:rPr lang="en-US" altLang="en-US"/>
              <a:t>×</a:t>
            </a:r>
            <a:r>
              <a:rPr lang="en-US" altLang="zh-CN"/>
              <a:t>128 </a:t>
            </a:r>
            <a:r>
              <a:rPr lang="zh-CN" altLang="en-US"/>
              <a:t>灰度图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train/val/test </a:t>
            </a:r>
            <a:r>
              <a:rPr lang="zh-CN" altLang="en-US"/>
              <a:t>三划分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LeNet </a:t>
            </a:r>
            <a:r>
              <a:rPr lang="zh-CN" altLang="en-US"/>
              <a:t>训练评估闭环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1774825"/>
            <a:ext cx="5580380" cy="8185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8480" y="864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用仿真数据跑出训练，验证，测试</a:t>
            </a:r>
            <a:r>
              <a:rPr lang="zh-CN" altLang="en-US"/>
              <a:t>集</a:t>
            </a:r>
            <a:endParaRPr lang="zh-CN" altLang="en-US"/>
          </a:p>
        </p:txBody>
      </p:sp>
      <p:pic>
        <p:nvPicPr>
          <p:cNvPr id="6" name="图片 5" descr="mod_00001_SNR-5.0_JSR6.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0" y="2924175"/>
            <a:ext cx="1219200" cy="12192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68665" y="3690620"/>
            <a:ext cx="873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mod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580" y="4457700"/>
            <a:ext cx="5280660" cy="18484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521835" y="5869305"/>
            <a:ext cx="1351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无</a:t>
            </a:r>
            <a:r>
              <a:rPr lang="zh-CN" altLang="en-US"/>
              <a:t>额外干扰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255" y="247015"/>
            <a:ext cx="3956685" cy="14966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327640" y="864235"/>
            <a:ext cx="1117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pbnj</a:t>
            </a:r>
            <a:endParaRPr lang="en-US" altLang="zh-CN"/>
          </a:p>
        </p:txBody>
      </p:sp>
      <p:pic>
        <p:nvPicPr>
          <p:cNvPr id="12" name="图片 11" descr="tone_00001_SNR-5.0_JSR6.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4615" y="1973580"/>
            <a:ext cx="1219200" cy="12192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327640" y="2593340"/>
            <a:ext cx="899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单音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520" y="747395"/>
            <a:ext cx="8298180" cy="22434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397635" y="3601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采用</a:t>
            </a:r>
            <a:r>
              <a:rPr lang="en-US" altLang="zh-CN">
                <a:sym typeface="+mn-ea"/>
              </a:rPr>
              <a:t>LeNet </a:t>
            </a:r>
            <a:r>
              <a:rPr lang="zh-CN" altLang="en-US">
                <a:sym typeface="+mn-ea"/>
              </a:rPr>
              <a:t>经典而轻量的神经网络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726440"/>
            <a:ext cx="9817100" cy="56642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93520" y="302895"/>
            <a:ext cx="163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训练过程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2135" y="1394460"/>
            <a:ext cx="5089525" cy="3898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470" y="1523365"/>
            <a:ext cx="4210050" cy="3390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36320" y="537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识别结果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WPS 演示</Application>
  <PresentationFormat>宽屏</PresentationFormat>
  <Paragraphs>49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张峻豪</dc:creator>
  <cp:lastModifiedBy>morty</cp:lastModifiedBy>
  <cp:revision>6</cp:revision>
  <dcterms:created xsi:type="dcterms:W3CDTF">2023-08-09T12:44:00Z</dcterms:created>
  <dcterms:modified xsi:type="dcterms:W3CDTF">2026-02-04T08:52:23Z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2052-12.1.0.24655</vt:lpwstr>
  </property>
  <property fmtid="{D5CDD505-2E9C-101B-9397-08002B2CF9AE}" pid="3" name="ICV">
    <vt:lpwstr>6A9516F5D01542389D679487EE3295A9_13</vt:lpwstr>
  </property>
</Properties>
</file>